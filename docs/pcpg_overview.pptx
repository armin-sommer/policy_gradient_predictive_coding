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E5EAA"/>
                </a:solidFill>
              </a:rPr>
              <a:t>PCPG — Predictive Coding Policy Gradients</a:t>
            </a:r>
          </a:p>
          <a:p>
            <a:r>
              <a:rPr sz="2200">
                <a:solidFill>
                  <a:srgbClr val="555555"/>
                </a:solidFill>
              </a:rPr>
              <a:t>On-policy policy gradients in JAX/Flax + a predictive-coding-trained policy (jpc)</a:t>
            </a:r>
          </a:p>
          <a:p>
            <a:r>
              <a:rPr sz="1600">
                <a:solidFill>
                  <a:srgbClr val="555555"/>
                </a:solidFill>
              </a:rPr>
              <a:t>Code overview · June 2026 · branch feature/cleanba-bandit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E5EAA"/>
                </a:solidFill>
              </a:rPr>
              <a:t>Repository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ourier New"/>
              </a:rPr>
              <a:t>src/backprop_algorithms/   REINFORCE, PPO, Cleanba PPO, TRPO (+ shared common.py)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ourier New"/>
              </a:rPr>
              <a:t>src/pc_algorithms/         PC-REINFORCE (predictive coding via jpc)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ourier New"/>
              </a:rPr>
              <a:t>src/networks/              MLP / NatureCNN, action distributions, policy interface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ourier New"/>
              </a:rPr>
              <a:t>src/env/                   Procgen wrapper + 2-armed bandit (same VecEnv API)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ourier New"/>
              </a:rPr>
              <a:t>configs/                   YAML experiment configs (default.yaml, bandit.yaml)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ourier New"/>
              </a:rPr>
              <a:t>scripts/                   run_train.py, run_eval.py, run_bandit_comparison.py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ourier New"/>
              </a:rPr>
              <a:t>results/                   committed artifacts: plots, per-update logs, CSVs</a:t>
            </a:r>
          </a:p>
          <a:p>
            <a:pPr>
              <a:spcAft>
                <a:spcPts val="700"/>
              </a:spcAft>
            </a:pPr>
            <a:r>
              <a:rPr sz="1800" b="0"/>
              <a:t>• </a:t>
            </a:r>
          </a:p>
          <a:p>
            <a:pPr>
              <a:spcAft>
                <a:spcPts val="700"/>
              </a:spcAft>
            </a:pPr>
            <a:r>
              <a:rPr sz="1800" b="1"/>
              <a:t>• One convention everywhere: each algorithm file has an inline Config class + main()</a:t>
            </a:r>
          </a:p>
          <a:p>
            <a:pPr lvl="1">
              <a:spcAft>
                <a:spcPts val="700"/>
              </a:spcAft>
            </a:pPr>
            <a:r>
              <a:rPr sz="1600" b="0"/>
              <a:t>– scripts/run_train.py maps YAML keys onto Config and dispatches by agent.algorithm</a:t>
            </a:r>
          </a:p>
          <a:p>
            <a:pPr lvl="1">
              <a:spcAft>
                <a:spcPts val="700"/>
              </a:spcAft>
            </a:pPr>
            <a:r>
              <a:rPr sz="1600" b="0"/>
              <a:t>– Both envs expose the same interface: reset(), step(), action_space.n, normalize_obs()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E5EAA"/>
                </a:solidFill>
              </a:rPr>
              <a:t>What we took from where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85800">
                <a:tc>
                  <a:txBody>
                    <a:bodyPr/>
                    <a:lstStyle/>
                    <a:p>
                      <a:r>
                        <a:rPr sz="1400" b="1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What we changed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/>
                        <a:t>REINFORCE, PPO, TRPO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PolicyGradientsJax (Matt00n), 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Procgen + bandit env factory, init-bias knob, SGD option, bug fixes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/>
                        <a:t>networks/ (MLP, CNN, distributions)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PolicyGradientsJax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near-exact copy; distrax migration planned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/>
                        <a:t>Cleanba 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Cleanba / CleanRL (vwxyzjn)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single-file re-implementation on our env API (not the distributed actor-learner)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/>
                        <a:t>PC training (inference + local updates)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jpc (thebuckleylab)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used as a library: make_mlp, make_pc_step; we add the RL wrapper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/>
                        <a:t>Bandit env, adversarial init,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E5EAA"/>
                </a:solidFill>
              </a:rPr>
              <a:t>Algorithms in the repo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97280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40079">
                <a:tc>
                  <a:txBody>
                    <a:bodyPr/>
                    <a:lstStyle/>
                    <a:p>
                      <a:r>
                        <a:rPr sz="1400" b="1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Gradient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Update rule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400" b="0"/>
                        <a:t>REINFORCE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vanilla PG (backprop)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log-prob × advantage, SGD or Adam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400" b="0"/>
                        <a:t>PPO / Cleanba 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first-order surrogate (backprop)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clipped ratio, GAE, minibatch epochs, Adam(eps=1e-5)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400" b="0"/>
                        <a:t>TRPO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natural PG (backprop)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Fisher-preconditioned step via conjugate gradient + KL line search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400" b="0"/>
                        <a:t>PC-REINFORCE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predictive coding (no backprop)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advantage-weighted output targets → jpc inference relaxation → local PC updates</a:t>
                      </a:r>
                    </a:p>
                  </a:txBody>
                  <a:tcPr/>
                </a:tc>
              </a:tr>
              <a:tr h="640084">
                <a:tc>
                  <a:txBody>
                    <a:bodyPr/>
                    <a:lstStyle/>
                    <a:p>
                      <a:r>
                        <a:rPr sz="1400" b="0"/>
                        <a:t>PCPG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predictive 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work in progress — the point of the project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E5EAA"/>
                </a:solidFill>
              </a:rPr>
              <a:t>Testbed: 2-armed bandit with an adversarial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/>
              <a:t>• Simplest RL problem: 1 state, 2 actions, 1-step episodes; arm means (1.0, 0.9), deterministic</a:t>
            </a:r>
          </a:p>
          <a:p>
            <a:pPr>
              <a:spcAft>
                <a:spcPts val="700"/>
              </a:spcAft>
            </a:pPr>
            <a:r>
              <a:rPr sz="1800" b="0"/>
              <a:t>• Softmax policy initialized at π(optimal arm) ≈ 1.8%  (logit bias [0, 4])</a:t>
            </a:r>
          </a:p>
          <a:p>
            <a:pPr>
              <a:spcAft>
                <a:spcPts val="700"/>
              </a:spcAft>
            </a:pPr>
            <a:r>
              <a:rPr sz="1800" b="1"/>
              <a:t>• Why this separates the algorithm families:</a:t>
            </a:r>
          </a:p>
          <a:p>
            <a:pPr lvl="1">
              <a:spcAft>
                <a:spcPts val="700"/>
              </a:spcAft>
            </a:pPr>
            <a:r>
              <a:rPr sz="1600" b="0"/>
              <a:t>– vanilla PG gradient on the logit gap = π(1−π)·Δr ≈ 0.002 → plateau of ~1/π updates, any step size</a:t>
            </a:r>
          </a:p>
          <a:p>
            <a:pPr lvl="1">
              <a:spcAft>
                <a:spcPts val="700"/>
              </a:spcAft>
            </a:pPr>
            <a:r>
              <a:rPr sz="1600" b="0"/>
              <a:t>– natural PG divides by the Fisher π(1−π) → constant logit progress per update</a:t>
            </a:r>
          </a:p>
          <a:p>
            <a:pPr lvl="1">
              <a:spcAft>
                <a:spcPts val="700"/>
              </a:spcAft>
            </a:pPr>
            <a:r>
              <a:rPr sz="1600" b="0"/>
              <a:t>– Mei et al. 2020: softmax PG O(1/t) with plateau constants; NPG converges linearly</a:t>
            </a:r>
          </a:p>
          <a:p>
            <a:pPr>
              <a:spcAft>
                <a:spcPts val="700"/>
              </a:spcAft>
            </a:pPr>
            <a:r>
              <a:rPr sz="1800" b="0"/>
              <a:t>• Deterministic rewards keep the gap purely geometric — no estimation-noise excuses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E5EAA"/>
                </a:solidFill>
              </a:rPr>
              <a:t>PC-REINFORCE: policy gradients without backprop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/>
              <a:t>• Policy = predictive coding network (jpc.make_mlp, equinox): 1 → 32 → 2</a:t>
            </a:r>
          </a:p>
          <a:p>
            <a:pPr>
              <a:spcAft>
                <a:spcPts val="700"/>
              </a:spcAft>
            </a:pPr>
            <a:r>
              <a:rPr sz="1800" b="1"/>
              <a:t>• Per update:</a:t>
            </a:r>
          </a:p>
          <a:p>
            <a:pPr lvl="1">
              <a:spcAft>
                <a:spcPts val="700"/>
              </a:spcAft>
            </a:pPr>
            <a:r>
              <a:rPr sz="1600" b="0"/>
              <a:t>– rollout 2000 one-step episodes, advantages A = r − mean(r)</a:t>
            </a:r>
          </a:p>
          <a:p>
            <a:pPr lvl="1">
              <a:spcAft>
                <a:spcPts val="700"/>
              </a:spcAft>
            </a:pPr>
            <a:r>
              <a:rPr sz="1600" b="0"/>
              <a:t>– output targets  y = logits + α·A·(onehot(a) − π)   → PC output error = REINFORCE gradient</a:t>
            </a:r>
          </a:p>
          <a:p>
            <a:pPr lvl="1">
              <a:spcAft>
                <a:spcPts val="700"/>
              </a:spcAft>
            </a:pPr>
            <a:r>
              <a:rPr sz="1600" b="0"/>
              <a:t>– jpc.make_pc_step: relax activities to equilibrium (diffrax ODE), then local PC weight updates</a:t>
            </a:r>
          </a:p>
          <a:p>
            <a:pPr>
              <a:spcAft>
                <a:spcPts val="700"/>
              </a:spcAft>
            </a:pPr>
            <a:r>
              <a:rPr sz="1800" b="0"/>
              <a:t>• No end-to-end backprop through the policy — all updates are local</a:t>
            </a:r>
          </a:p>
          <a:p>
            <a:pPr>
              <a:spcAft>
                <a:spcPts val="700"/>
              </a:spcAft>
            </a:pPr>
            <a:r>
              <a:rPr sz="1800" b="1"/>
              <a:t>• Hypothesis: PC inference acts as an implicit (partial) preconditioner of the learning signal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E5EAA"/>
                </a:solidFill>
              </a:rPr>
              <a:t>Results: PC sits between vanilla PG and natural PG</a:t>
            </a:r>
          </a:p>
        </p:txBody>
      </p:sp>
      <p:pic>
        <p:nvPicPr>
          <p:cNvPr id="3" name="Picture 2" descr="bandit_npg_vs_pg_see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6258560" cy="40233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6640" y="1463040"/>
          <a:ext cx="4297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final π(opt)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avg π(opt)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/>
                        <a:t>TRPO (natural PG)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0.972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/>
                        <a:t>PC-REINFORCE (jpc)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0.487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/>
                        <a:t>Cleanba PPO (Adam)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0.023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/>
                        <a:t>REINFORCE (SGD)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0.015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06640" y="3931920"/>
            <a:ext cx="4297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55555"/>
                </a:solidFill>
              </a:rPr>
              <a:t>TRPO escapes in ~3 updates; PC-REINFORCE climbs steadily and converges by ~50k steps; REINFORCE and PPO never leave the plateau. Reproduced on seeds 0 and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E5EAA"/>
                </a:solidFill>
              </a:rPr>
              <a:t>Hyperparameters (bandit comparison)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97280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1323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REINFORCE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TRPO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Cleanba 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PC-REINFORCE</a:t>
                      </a:r>
                    </a:p>
                  </a:txBody>
                  <a:tcPr/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 b="0"/>
                        <a:t>samples /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2000 (1 env)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2000 (8×250)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2000 (8×250)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2000 (8×250)</a:t>
                      </a:r>
                    </a:p>
                  </a:txBody>
                  <a:tcPr/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 b="0"/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SGD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value: Adam 1e-2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Adam 2.5e-4, eps 1e-5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Adam 1e-2 (PC params)</a:t>
                      </a:r>
                    </a:p>
                  </a:txBody>
                  <a:tcPr/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 b="0"/>
                        <a:t>key knobs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entropy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target KL 0.01, CG 10 iters, 8 minibatches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clip 0.1, 4 epochs × 4 minibatches, GAE λ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target scale 1.0, max_t1 20</a:t>
                      </a:r>
                    </a:p>
                  </a:txBody>
                  <a:tcPr/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 b="0"/>
                        <a:t>policy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linear (1→2)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linear (1→2)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linear (1→2)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MLP 1→32→2 (PCN)</a:t>
                      </a:r>
                    </a:p>
                  </a:txBody>
                  <a:tcPr/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 b="0"/>
                        <a:t>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60k steps · γ 0.99 · adversarial logit bias [0, 4] · 200 stochastic eval episodes/update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E5EAA"/>
                </a:solidFill>
              </a:rPr>
              <a:t>Reproduce +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ourier New"/>
              </a:rPr>
              <a:t>pip install -e .                  # incl. jpc from GitHub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ourier New"/>
              </a:rPr>
              <a:t>python scripts/run_bandit_comparison.py --seed 0     # 4-way + plot + logs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ourier New"/>
              </a:rPr>
              <a:t>python scripts/run_train.py --config configs/bandit.yaml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ourier New"/>
              </a:rPr>
              <a:t>python scripts/run_train.py --config configs/default.yaml   # Procgen</a:t>
            </a:r>
          </a:p>
          <a:p>
            <a:pPr>
              <a:spcAft>
                <a:spcPts val="700"/>
              </a:spcAft>
            </a:pPr>
            <a:r>
              <a:rPr sz="1800" b="0"/>
              <a:t>• </a:t>
            </a:r>
          </a:p>
          <a:p>
            <a:pPr>
              <a:spcAft>
                <a:spcPts val="700"/>
              </a:spcAft>
            </a:pPr>
            <a:r>
              <a:rPr sz="1800" b="0"/>
              <a:t>• Outputs land in results/bandit_seed{seed}/: figure, per-algo logs, pi_optimal.csv, summary.txt</a:t>
            </a:r>
          </a:p>
          <a:p>
            <a:pPr>
              <a:spcAft>
                <a:spcPts val="700"/>
              </a:spcAft>
            </a:pPr>
            <a:r>
              <a:rPr sz="1800" b="1"/>
              <a:t>• Version pins that matter: JAX 0.4.38 + Flax 0.10.2 + Optax 0.2.4</a:t>
            </a:r>
          </a:p>
          <a:p>
            <a:pPr lvl="1">
              <a:spcAft>
                <a:spcPts val="700"/>
              </a:spcAft>
            </a:pPr>
            <a:r>
              <a:rPr sz="1600" b="0"/>
              <a:t>– jpc requires JAX 0.4.38–0.5.2; newer JAX removed device_put_replicated used by the pmap code</a:t>
            </a:r>
          </a:p>
          <a:p>
            <a:pPr>
              <a:spcAft>
                <a:spcPts val="700"/>
              </a:spcAft>
            </a:pPr>
            <a:r>
              <a:rPr sz="1800" b="0"/>
              <a:t>• Next: PCPG — replace the REINFORCE wrapper with a PC-native policy gradient; distrax distributions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